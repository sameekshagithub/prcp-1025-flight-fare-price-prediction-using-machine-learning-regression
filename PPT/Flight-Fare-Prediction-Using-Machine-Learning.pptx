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Flight Fare Prediction Using Machine Learning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PRCP-1025 Capstone Project — concise pipeline from raw bookings to a production-ready fare predictor. Audience: data science students and project evaluators.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34604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240156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Flight ticket prices are volatile and opaque: the same route may cost ₹4,500 today, ₹5,700 tomorrow or ₹3,900 next week. The project predicts continuous price values from booking features so travellers and airlines can make informed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560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Goals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573485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72000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— EDA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026518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Thorough exploratory analysis to surface distributions, outliers and correlations.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573485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172000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— Modeling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026518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multiple regression algorithms and build a reproducible training pipeline.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573485"/>
            <a:ext cx="2622724" cy="1279996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172000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— Comparison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026518"/>
            <a:ext cx="23296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with MAE, MSE, RMSE and R² to select the best candidate for production.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995240"/>
            <a:ext cx="8151688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141762"/>
            <a:ext cx="78586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— Reporting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640" y="3448273"/>
            <a:ext cx="78586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techniques, challenges and next steps in a single Jupyter Notebook.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98107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deliverables packaged in one notebook for reproducibility and review.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Dataset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16285"/>
            <a:ext cx="3478039" cy="3478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1859533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~10,700 historical booking records. Key columns used: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24796" y="2213893"/>
            <a:ext cx="432777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Airline, Source, Destination, Route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of Journey, Departure Time, Arrival Time, Duration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Stops, Additional Info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Price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target variable (continuous)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324796" y="3397374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checks: schema, missing values, duplicates and basic sanity checks.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340346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190730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 and findings: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2293590"/>
            <a:ext cx="472276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Inspected shape, dtypes and missingness; removed duplicates.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Visualised price distribution — skew and long-tail outliers present.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Compared price by Airline, Stops and Source cities to find systematic differences.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feature correlations; identified non-linear relationships with price.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6790"/>
            <a:ext cx="8151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 — From Raw Text to Model-ready Inputs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18295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7075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474988" y="1929482"/>
            <a:ext cx="2517874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3474988" y="2038424"/>
            <a:ext cx="25178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Temporal features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401639"/>
            <a:ext cx="25178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Journey Day, Journey Month, Departure Hour/Minute extracted from Date/Time fields.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134621" y="1707579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34621" y="1929482"/>
            <a:ext cx="2517949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6134621" y="2038424"/>
            <a:ext cx="25179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134621" y="2401639"/>
            <a:ext cx="251794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"2h 50m" to total minutes for numeric modelling.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988" y="333010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988" y="3552006"/>
            <a:ext cx="5177582" cy="1905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988" y="3660949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Categorical encoding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474988" y="4024164"/>
            <a:ext cx="5177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One‑hot encoding for Airline, Source, Destination. Total Stops → ordinal.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682005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Challenges &amp; Decisions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96119" y="1248966"/>
            <a:ext cx="2290465" cy="1535385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6927" y="1409774"/>
            <a:ext cx="19688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High-cardinality Route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1716286"/>
            <a:ext cx="19688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Dropped Route to avoid sparse encoding; used Source + Destination + Stops instead.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1248966"/>
            <a:ext cx="2290539" cy="1535385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89151" y="1409774"/>
            <a:ext cx="19689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Dominant Additional Info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89151" y="1937742"/>
            <a:ext cx="1968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provided little variance; removed to reduce noise.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2926110"/>
            <a:ext cx="2290465" cy="1535385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6927" y="3086919"/>
            <a:ext cx="19688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Outliers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6927" y="3393430"/>
            <a:ext cx="19688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Investigated but retained premium/long-haul fares as valid observations.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28342" y="2926110"/>
            <a:ext cx="2290539" cy="1535385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89151" y="3086919"/>
            <a:ext cx="1968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089151" y="3393430"/>
            <a:ext cx="19689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or dropped depending on column and impact on downstream models.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732606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Models Trained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25119" y="129956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regressors trained with standard pipeline (preprocessing → train/test split → CV):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1912665"/>
            <a:ext cx="4722763" cy="1885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Regression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 Regressor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Regressor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 Trees Regressor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Boosting Regressor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AdaBoost Regressor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 Regressor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25119" y="395719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Hyperparameters tuned for ensembles using grid/random search where applicable.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412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&amp; Key Finding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50553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1863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metrics: MAE, MSE, RMSE and R² used. Findings: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1999804"/>
            <a:ext cx="3902943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Tree-based ensembles (Random Forest, Extra Trees, XGBoost, Gradient Boosting) outperform linear models.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performer: XGBoost / Extra Trees family (lowest RMSE, highest R²).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Reason: pricing relationships are non-linear and interact across categorical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534"/>
            <a:ext cx="8151763" cy="20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Value &amp; Next Steps</a:t>
            </a:r>
            <a:endParaRPr lang="en-US" sz="1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1742"/>
            <a:ext cx="3975943" cy="397594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01" y="1983432"/>
            <a:ext cx="430783" cy="4307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66643" y="1983432"/>
            <a:ext cx="146841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 Customers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166643" y="2158826"/>
            <a:ext cx="1468413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guidance on best booking windows to save money.</a:t>
            </a:r>
            <a:endParaRPr lang="en-US" sz="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215" y="1983432"/>
            <a:ext cx="430783" cy="4307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84157" y="1983432"/>
            <a:ext cx="1468487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 Airlines</a:t>
            </a:r>
            <a:endParaRPr lang="en-US" sz="800" dirty="0"/>
          </a:p>
        </p:txBody>
      </p:sp>
      <p:sp>
        <p:nvSpPr>
          <p:cNvPr id="9" name="Text 4"/>
          <p:cNvSpPr/>
          <p:nvPr/>
        </p:nvSpPr>
        <p:spPr>
          <a:xfrm>
            <a:off x="7184157" y="2158826"/>
            <a:ext cx="1468487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importance insights to inform dynamic pricing and yield management.</a:t>
            </a:r>
            <a:endParaRPr lang="en-US" sz="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01" y="2563862"/>
            <a:ext cx="430783" cy="4307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66643" y="2563862"/>
            <a:ext cx="146841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12" name="Text 6"/>
          <p:cNvSpPr/>
          <p:nvPr/>
        </p:nvSpPr>
        <p:spPr>
          <a:xfrm>
            <a:off x="5166643" y="2739256"/>
            <a:ext cx="1468413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Productionise with scheduled retraining, real-time feature refresh and calibration to seasonal demand.</a:t>
            </a:r>
            <a:endParaRPr lang="en-US" sz="600" dirty="0"/>
          </a:p>
        </p:txBody>
      </p:sp>
      <p:sp>
        <p:nvSpPr>
          <p:cNvPr id="13" name="Shape 7"/>
          <p:cNvSpPr/>
          <p:nvPr/>
        </p:nvSpPr>
        <p:spPr>
          <a:xfrm>
            <a:off x="4676701" y="3102843"/>
            <a:ext cx="3975943" cy="333077"/>
          </a:xfrm>
          <a:prstGeom prst="roundRect">
            <a:avLst>
              <a:gd name="adj" fmla="val 10335"/>
            </a:avLst>
          </a:prstGeom>
          <a:solidFill>
            <a:srgbClr val="DADBF1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630" y="3214464"/>
            <a:ext cx="102394" cy="8193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42954" y="3165946"/>
            <a:ext cx="3627760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includes code, model artefacts and instructions for retraining. Recommended: deploy best ensemble with monitoring on RMSE drift.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2026-07-29T06:47:25Z</dcterms:created>
  <dcterms:modified xsi:type="dcterms:W3CDTF">2026-07-29T06:47:25Z</dcterms:modified>
</cp:coreProperties>
</file>